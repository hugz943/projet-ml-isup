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Nuni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5F4E57-42CA-4603-AE23-07E2851FB653}">
  <a:tblStyle styleId="{E85F4E57-42CA-4603-AE23-07E2851FB6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Nunito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22e2518535_0_102:notes"/>
          <p:cNvSpPr txBox="1"/>
          <p:nvPr>
            <p:ph idx="12" type="sldNum"/>
          </p:nvPr>
        </p:nvSpPr>
        <p:spPr>
          <a:xfrm>
            <a:off x="3885453" y="8686363"/>
            <a:ext cx="2972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g322e2518535_0_102:notes"/>
          <p:cNvSpPr/>
          <p:nvPr>
            <p:ph idx="2" type="sldImg"/>
          </p:nvPr>
        </p:nvSpPr>
        <p:spPr>
          <a:xfrm>
            <a:off x="90040" y="685508"/>
            <a:ext cx="667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22e2518535_0_102:notes"/>
          <p:cNvSpPr txBox="1"/>
          <p:nvPr>
            <p:ph idx="1" type="body"/>
          </p:nvPr>
        </p:nvSpPr>
        <p:spPr>
          <a:xfrm>
            <a:off x="376399" y="4932466"/>
            <a:ext cx="6105000" cy="3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3857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2e2518535_0_1048:notes"/>
          <p:cNvSpPr/>
          <p:nvPr>
            <p:ph idx="2" type="sldImg"/>
          </p:nvPr>
        </p:nvSpPr>
        <p:spPr>
          <a:xfrm>
            <a:off x="-487603" y="685508"/>
            <a:ext cx="7833300" cy="40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2" name="Google Shape;182;g322e2518535_0_1048:notes"/>
          <p:cNvSpPr txBox="1"/>
          <p:nvPr>
            <p:ph idx="1" type="body"/>
          </p:nvPr>
        </p:nvSpPr>
        <p:spPr>
          <a:xfrm>
            <a:off x="376399" y="4932466"/>
            <a:ext cx="6105000" cy="3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83" name="Google Shape;183;g322e2518535_0_1048:notes"/>
          <p:cNvSpPr txBox="1"/>
          <p:nvPr>
            <p:ph idx="12" type="sldNum"/>
          </p:nvPr>
        </p:nvSpPr>
        <p:spPr>
          <a:xfrm>
            <a:off x="3885453" y="8686363"/>
            <a:ext cx="2972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2e2518535_0_1104:notes"/>
          <p:cNvSpPr/>
          <p:nvPr>
            <p:ph idx="2" type="sldImg"/>
          </p:nvPr>
        </p:nvSpPr>
        <p:spPr>
          <a:xfrm>
            <a:off x="-487603" y="685508"/>
            <a:ext cx="7833300" cy="40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9" name="Google Shape;189;g322e2518535_0_1104:notes"/>
          <p:cNvSpPr txBox="1"/>
          <p:nvPr>
            <p:ph idx="1" type="body"/>
          </p:nvPr>
        </p:nvSpPr>
        <p:spPr>
          <a:xfrm>
            <a:off x="376399" y="4932466"/>
            <a:ext cx="6105000" cy="3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90" name="Google Shape;190;g322e2518535_0_1104:notes"/>
          <p:cNvSpPr txBox="1"/>
          <p:nvPr>
            <p:ph idx="12" type="sldNum"/>
          </p:nvPr>
        </p:nvSpPr>
        <p:spPr>
          <a:xfrm>
            <a:off x="3885453" y="8686363"/>
            <a:ext cx="2972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2e2518535_0_1180:notes"/>
          <p:cNvSpPr txBox="1"/>
          <p:nvPr>
            <p:ph idx="1" type="body"/>
          </p:nvPr>
        </p:nvSpPr>
        <p:spPr>
          <a:xfrm>
            <a:off x="376399" y="4932466"/>
            <a:ext cx="6105000" cy="3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22e2518535_0_1180:notes"/>
          <p:cNvSpPr/>
          <p:nvPr>
            <p:ph idx="2" type="sldImg"/>
          </p:nvPr>
        </p:nvSpPr>
        <p:spPr>
          <a:xfrm>
            <a:off x="-328047" y="685508"/>
            <a:ext cx="7514100" cy="4019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2e2518535_3_0:notes"/>
          <p:cNvSpPr txBox="1"/>
          <p:nvPr>
            <p:ph idx="1" type="body"/>
          </p:nvPr>
        </p:nvSpPr>
        <p:spPr>
          <a:xfrm>
            <a:off x="376399" y="4932466"/>
            <a:ext cx="6105000" cy="3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22e2518535_3_0:notes"/>
          <p:cNvSpPr/>
          <p:nvPr>
            <p:ph idx="2" type="sldImg"/>
          </p:nvPr>
        </p:nvSpPr>
        <p:spPr>
          <a:xfrm>
            <a:off x="-328047" y="685508"/>
            <a:ext cx="7514100" cy="4019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2e2518535_3_5:notes"/>
          <p:cNvSpPr txBox="1"/>
          <p:nvPr>
            <p:ph idx="1" type="body"/>
          </p:nvPr>
        </p:nvSpPr>
        <p:spPr>
          <a:xfrm>
            <a:off x="376399" y="4932466"/>
            <a:ext cx="6105000" cy="3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22e2518535_3_5:notes"/>
          <p:cNvSpPr/>
          <p:nvPr>
            <p:ph idx="2" type="sldImg"/>
          </p:nvPr>
        </p:nvSpPr>
        <p:spPr>
          <a:xfrm>
            <a:off x="-328047" y="685508"/>
            <a:ext cx="7514100" cy="4019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2ffe8c1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22ffe8c1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2ffe8c166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22ffe8c166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22ffe8c166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22ffe8c166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a4d9e70c78_1_5:notes"/>
          <p:cNvSpPr/>
          <p:nvPr>
            <p:ph idx="2" type="sldImg"/>
          </p:nvPr>
        </p:nvSpPr>
        <p:spPr>
          <a:xfrm>
            <a:off x="-487603" y="685508"/>
            <a:ext cx="7833300" cy="40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4" name="Google Shape;234;g2a4d9e70c78_1_5:notes"/>
          <p:cNvSpPr txBox="1"/>
          <p:nvPr>
            <p:ph idx="1" type="body"/>
          </p:nvPr>
        </p:nvSpPr>
        <p:spPr>
          <a:xfrm>
            <a:off x="376399" y="4932466"/>
            <a:ext cx="6105000" cy="3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35" name="Google Shape;235;g2a4d9e70c78_1_5:notes"/>
          <p:cNvSpPr txBox="1"/>
          <p:nvPr>
            <p:ph idx="12" type="sldNum"/>
          </p:nvPr>
        </p:nvSpPr>
        <p:spPr>
          <a:xfrm>
            <a:off x="3885453" y="8686363"/>
            <a:ext cx="2972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a4d9e70c78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a4d9e70c78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a4d9e70c78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a4d9e70c78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a4d9e70c78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a4d9e70c78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a4d9e70c78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a4d9e70c78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a4d9e70c78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a4d9e70c78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a4d9e70c78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a4d9e70c78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a4d9e70c78_0_5:notes"/>
          <p:cNvSpPr/>
          <p:nvPr>
            <p:ph idx="2" type="sldImg"/>
          </p:nvPr>
        </p:nvSpPr>
        <p:spPr>
          <a:xfrm>
            <a:off x="-487603" y="685508"/>
            <a:ext cx="7833300" cy="40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8" name="Google Shape;298;g2a4d9e70c78_0_5:notes"/>
          <p:cNvSpPr txBox="1"/>
          <p:nvPr>
            <p:ph idx="1" type="body"/>
          </p:nvPr>
        </p:nvSpPr>
        <p:spPr>
          <a:xfrm>
            <a:off x="376399" y="4932466"/>
            <a:ext cx="6105000" cy="3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99" name="Google Shape;299;g2a4d9e70c78_0_5:notes"/>
          <p:cNvSpPr txBox="1"/>
          <p:nvPr>
            <p:ph idx="12" type="sldNum"/>
          </p:nvPr>
        </p:nvSpPr>
        <p:spPr>
          <a:xfrm>
            <a:off x="3885453" y="8686363"/>
            <a:ext cx="2972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a4d9e70c78_0_39:notes"/>
          <p:cNvSpPr txBox="1"/>
          <p:nvPr>
            <p:ph idx="1" type="body"/>
          </p:nvPr>
        </p:nvSpPr>
        <p:spPr>
          <a:xfrm>
            <a:off x="376399" y="4932466"/>
            <a:ext cx="6105000" cy="3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2a4d9e70c78_0_39:notes"/>
          <p:cNvSpPr/>
          <p:nvPr>
            <p:ph idx="2" type="sldImg"/>
          </p:nvPr>
        </p:nvSpPr>
        <p:spPr>
          <a:xfrm>
            <a:off x="-328047" y="685508"/>
            <a:ext cx="7514100" cy="4019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a4d9e70c78_0_62:notes"/>
          <p:cNvSpPr txBox="1"/>
          <p:nvPr>
            <p:ph idx="1" type="body"/>
          </p:nvPr>
        </p:nvSpPr>
        <p:spPr>
          <a:xfrm>
            <a:off x="376399" y="4932466"/>
            <a:ext cx="6105000" cy="3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2a4d9e70c78_0_62:notes"/>
          <p:cNvSpPr/>
          <p:nvPr>
            <p:ph idx="2" type="sldImg"/>
          </p:nvPr>
        </p:nvSpPr>
        <p:spPr>
          <a:xfrm>
            <a:off x="-328047" y="685508"/>
            <a:ext cx="7514100" cy="4019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417634" y="166688"/>
            <a:ext cx="83088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15575" lIns="0" spcFirstLastPara="1" rIns="15575" wrap="square" tIns="384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417634" y="1087041"/>
            <a:ext cx="8308800" cy="32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75" lIns="62300" spcFirstLastPara="1" rIns="31150" wrap="square" tIns="384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46457"/>
              </a:buClr>
              <a:buSzPts val="1200"/>
              <a:buFont typeface="Calibri"/>
              <a:buChar char="–"/>
              <a:defRPr sz="1200">
                <a:solidFill>
                  <a:srgbClr val="74645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46457"/>
              </a:buClr>
              <a:buSzPts val="1200"/>
              <a:buFont typeface="Arial"/>
              <a:buChar char="•"/>
              <a:defRPr sz="1000">
                <a:solidFill>
                  <a:srgbClr val="74645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46457"/>
              </a:buClr>
              <a:buSzPts val="1000"/>
              <a:buChar char="-"/>
              <a:defRPr b="0" sz="1000">
                <a:solidFill>
                  <a:srgbClr val="74645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794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46457"/>
              </a:buClr>
              <a:buSzPts val="800"/>
              <a:buFont typeface="Courier New"/>
              <a:buChar char="o"/>
              <a:defRPr sz="1000">
                <a:solidFill>
                  <a:srgbClr val="74645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showMasterSp="0" type="title">
  <p:cSld name="TITL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>
            <a:off x="0" y="4248152"/>
            <a:ext cx="9144000" cy="9093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5"/>
          <p:cNvSpPr txBox="1"/>
          <p:nvPr>
            <p:ph type="ctrTitle"/>
          </p:nvPr>
        </p:nvSpPr>
        <p:spPr>
          <a:xfrm>
            <a:off x="2542058" y="2653003"/>
            <a:ext cx="4059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50" lIns="31150" spcFirstLastPara="1" rIns="31150" wrap="square" tIns="31150">
            <a:sp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600">
                <a:solidFill>
                  <a:srgbClr val="13264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>
            <p:ph idx="1" type="subTitle"/>
          </p:nvPr>
        </p:nvSpPr>
        <p:spPr>
          <a:xfrm>
            <a:off x="2005350" y="1119600"/>
            <a:ext cx="5133300" cy="9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>
                <a:solidFill>
                  <a:srgbClr val="13264A"/>
                </a:solidFill>
              </a:defRPr>
            </a:lvl1pPr>
            <a:lvl2pPr lvl="1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3000"/>
              <a:buFont typeface="Calibri"/>
              <a:buChar char="–"/>
              <a:defRPr sz="3000"/>
            </a:lvl2pPr>
            <a:lvl3pPr lvl="2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3000"/>
              <a:buFont typeface="Calibri"/>
              <a:buChar char="o"/>
              <a:defRPr sz="3000"/>
            </a:lvl3pPr>
            <a:lvl4pPr lvl="3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3000"/>
              <a:buFont typeface="Calibri"/>
              <a:buChar char="-"/>
              <a:defRPr sz="3000"/>
            </a:lvl4pPr>
            <a:lvl5pPr lvl="4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3000"/>
              <a:buChar char="•"/>
              <a:defRPr sz="3000"/>
            </a:lvl5pPr>
            <a:lvl6pPr lvl="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000"/>
              <a:buChar char="•"/>
              <a:defRPr sz="3000"/>
            </a:lvl6pPr>
            <a:lvl7pPr lvl="6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000"/>
              <a:buChar char="•"/>
              <a:defRPr sz="3000"/>
            </a:lvl7pPr>
            <a:lvl8pPr lvl="7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000"/>
              <a:buChar char="•"/>
              <a:defRPr sz="3000"/>
            </a:lvl8pPr>
            <a:lvl9pPr lvl="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000"/>
              <a:buChar char="•"/>
              <a:defRPr sz="3000"/>
            </a:lvl9pPr>
          </a:lstStyle>
          <a:p/>
        </p:txBody>
      </p:sp>
      <p:sp>
        <p:nvSpPr>
          <p:cNvPr id="138" name="Google Shape;138;p15"/>
          <p:cNvSpPr/>
          <p:nvPr/>
        </p:nvSpPr>
        <p:spPr>
          <a:xfrm>
            <a:off x="0" y="210302"/>
            <a:ext cx="9144000" cy="564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>
            <p:ph type="title"/>
          </p:nvPr>
        </p:nvSpPr>
        <p:spPr>
          <a:xfrm>
            <a:off x="417634" y="166688"/>
            <a:ext cx="83088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15575" lIns="0" spcFirstLastPara="1" rIns="15575" wrap="square" tIns="384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1" type="body"/>
          </p:nvPr>
        </p:nvSpPr>
        <p:spPr>
          <a:xfrm>
            <a:off x="417634" y="1087041"/>
            <a:ext cx="8308800" cy="32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75" lIns="62300" spcFirstLastPara="1" rIns="31150" wrap="square" tIns="384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46457"/>
              </a:buClr>
              <a:buSzPts val="1200"/>
              <a:buFont typeface="Calibri"/>
              <a:buChar char="–"/>
              <a:defRPr sz="1200">
                <a:solidFill>
                  <a:srgbClr val="74645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46457"/>
              </a:buClr>
              <a:buSzPts val="1200"/>
              <a:buFont typeface="Arial"/>
              <a:buChar char="•"/>
              <a:defRPr sz="1000">
                <a:solidFill>
                  <a:srgbClr val="74645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46457"/>
              </a:buClr>
              <a:buSzPts val="1000"/>
              <a:buChar char="-"/>
              <a:defRPr b="0" sz="1000">
                <a:solidFill>
                  <a:srgbClr val="74645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794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46457"/>
              </a:buClr>
              <a:buSzPts val="800"/>
              <a:buFont typeface="Courier New"/>
              <a:buChar char="o"/>
              <a:defRPr sz="1000">
                <a:solidFill>
                  <a:srgbClr val="74645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age de transition" showMasterSp="0">
  <p:cSld name="1_Page de transition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185052" y="681540"/>
            <a:ext cx="1263000" cy="10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6200"/>
              <a:buNone/>
              <a:defRPr sz="62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–"/>
              <a:defRPr/>
            </a:lvl2pPr>
            <a:lvl3pPr indent="-3302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o"/>
              <a:defRPr/>
            </a:lvl3pPr>
            <a:lvl4pPr indent="-3302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-"/>
              <a:defRPr/>
            </a:lvl4pPr>
            <a:lvl5pPr indent="-3302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44" name="Google Shape;144;p17"/>
          <p:cNvSpPr txBox="1"/>
          <p:nvPr>
            <p:ph idx="2" type="body"/>
          </p:nvPr>
        </p:nvSpPr>
        <p:spPr>
          <a:xfrm>
            <a:off x="1963282" y="742244"/>
            <a:ext cx="69957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2300" spcFirstLastPara="1" rIns="31150" wrap="square" tIns="384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3800"/>
              <a:buNone/>
              <a:defRPr b="1" sz="38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–"/>
              <a:defRPr/>
            </a:lvl2pPr>
            <a:lvl3pPr indent="-3302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o"/>
              <a:defRPr/>
            </a:lvl3pPr>
            <a:lvl4pPr indent="-3302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-"/>
              <a:defRPr/>
            </a:lvl4pPr>
            <a:lvl5pPr indent="-3302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1647367" y="742243"/>
            <a:ext cx="116400" cy="880200"/>
          </a:xfrm>
          <a:prstGeom prst="roundRect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550" lIns="0" spcFirstLastPara="1" rIns="0" wrap="square" tIns="3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small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>
            <p:ph idx="3" type="body"/>
          </p:nvPr>
        </p:nvSpPr>
        <p:spPr>
          <a:xfrm>
            <a:off x="1963283" y="2029478"/>
            <a:ext cx="6723600" cy="25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75" lIns="62300" spcFirstLastPara="1" rIns="31150" wrap="square" tIns="384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 sz="14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2921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Char char="o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Char char="-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Calibri"/>
              <a:buChar char="•"/>
              <a:defRPr sz="1000"/>
            </a:lvl5pPr>
            <a:lvl6pPr indent="-3365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Calibri"/>
              <a:buChar char="•"/>
              <a:defRPr sz="1700"/>
            </a:lvl6pPr>
            <a:lvl7pPr indent="-3365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Calibri"/>
              <a:buChar char="•"/>
              <a:defRPr sz="1700"/>
            </a:lvl7pPr>
            <a:lvl8pPr indent="-3365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Calibri"/>
              <a:buChar char="•"/>
              <a:defRPr sz="1700"/>
            </a:lvl8pPr>
            <a:lvl9pPr indent="-3365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Calibri"/>
              <a:buChar char="•"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age de transition" showMasterSp="0">
  <p:cSld name="2_Page de transition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idx="1" type="body"/>
          </p:nvPr>
        </p:nvSpPr>
        <p:spPr>
          <a:xfrm>
            <a:off x="185051" y="681540"/>
            <a:ext cx="1371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31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–"/>
              <a:defRPr/>
            </a:lvl2pPr>
            <a:lvl3pPr indent="-2921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Char char="o"/>
              <a:defRPr/>
            </a:lvl3pPr>
            <a:lvl4pPr indent="-2921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Char char="-"/>
              <a:defRPr/>
            </a:lvl4pPr>
            <a:lvl5pPr indent="-2921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5pPr>
            <a:lvl6pPr indent="-2730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Char char="•"/>
              <a:defRPr/>
            </a:lvl6pPr>
            <a:lvl7pPr indent="-27305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Char char="•"/>
              <a:defRPr/>
            </a:lvl7pPr>
            <a:lvl8pPr indent="-27305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Char char="•"/>
              <a:defRPr/>
            </a:lvl8pPr>
            <a:lvl9pPr indent="-27305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Char char="•"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2" type="body"/>
          </p:nvPr>
        </p:nvSpPr>
        <p:spPr>
          <a:xfrm>
            <a:off x="1780306" y="742244"/>
            <a:ext cx="7178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2300" spcFirstLastPara="1" rIns="31150" wrap="square" tIns="384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1" sz="31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–"/>
              <a:defRPr/>
            </a:lvl2pPr>
            <a:lvl3pPr indent="-2921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Char char="o"/>
              <a:defRPr/>
            </a:lvl3pPr>
            <a:lvl4pPr indent="-2921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Char char="-"/>
              <a:defRPr/>
            </a:lvl4pPr>
            <a:lvl5pPr indent="-2921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5pPr>
            <a:lvl6pPr indent="-2730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Char char="•"/>
              <a:defRPr/>
            </a:lvl6pPr>
            <a:lvl7pPr indent="-27305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Char char="•"/>
              <a:defRPr/>
            </a:lvl7pPr>
            <a:lvl8pPr indent="-27305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Char char="•"/>
              <a:defRPr/>
            </a:lvl8pPr>
            <a:lvl9pPr indent="-27305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Char char="•"/>
              <a:defRPr/>
            </a:lvl9pPr>
          </a:lstStyle>
          <a:p/>
        </p:txBody>
      </p:sp>
      <p:sp>
        <p:nvSpPr>
          <p:cNvPr id="150" name="Google Shape;150;p18"/>
          <p:cNvSpPr/>
          <p:nvPr/>
        </p:nvSpPr>
        <p:spPr>
          <a:xfrm>
            <a:off x="1647367" y="742243"/>
            <a:ext cx="42300" cy="587400"/>
          </a:xfrm>
          <a:prstGeom prst="roundRect">
            <a:avLst>
              <a:gd fmla="val 50000" name="adj"/>
            </a:avLst>
          </a:prstGeom>
          <a:solidFill>
            <a:srgbClr val="980000"/>
          </a:solidFill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800" u="none" cap="small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>
            <p:ph idx="3" type="body"/>
          </p:nvPr>
        </p:nvSpPr>
        <p:spPr>
          <a:xfrm>
            <a:off x="1963283" y="2029478"/>
            <a:ext cx="6723600" cy="25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75" lIns="62300" spcFirstLastPara="1" rIns="31150" wrap="square" tIns="384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 sz="14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2921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Char char="o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Char char="-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730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Char char="•"/>
              <a:defRPr sz="1700"/>
            </a:lvl6pPr>
            <a:lvl7pPr indent="-27305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Char char="•"/>
              <a:defRPr sz="1700"/>
            </a:lvl7pPr>
            <a:lvl8pPr indent="-27305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Char char="•"/>
              <a:defRPr sz="1700"/>
            </a:lvl8pPr>
            <a:lvl9pPr indent="-27305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Char char="•"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417635" y="166688"/>
            <a:ext cx="83082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15575" lIns="0" spcFirstLastPara="1" rIns="15575" wrap="square" tIns="384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417635" y="166688"/>
            <a:ext cx="8253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15575" lIns="0" spcFirstLastPara="1" rIns="15575" wrap="square" tIns="384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600"/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3575539" y="951310"/>
            <a:ext cx="5111400" cy="3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75" lIns="62300" spcFirstLastPara="1" rIns="31150" wrap="square" tIns="384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 sz="14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2921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Char char="o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Char char="-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Calibri"/>
              <a:buChar char="•"/>
              <a:defRPr sz="1000"/>
            </a:lvl5pPr>
            <a:lvl6pPr indent="-3365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Calibri"/>
              <a:buChar char="•"/>
              <a:defRPr sz="1700"/>
            </a:lvl6pPr>
            <a:lvl7pPr indent="-3365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Calibri"/>
              <a:buChar char="•"/>
              <a:defRPr sz="1700"/>
            </a:lvl7pPr>
            <a:lvl8pPr indent="-3365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Calibri"/>
              <a:buChar char="•"/>
              <a:defRPr sz="1700"/>
            </a:lvl8pPr>
            <a:lvl9pPr indent="-3365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Calibri"/>
              <a:buChar char="•"/>
              <a:defRPr sz="1700"/>
            </a:lvl9pPr>
          </a:lstStyle>
          <a:p/>
        </p:txBody>
      </p:sp>
      <p:sp>
        <p:nvSpPr>
          <p:cNvPr id="157" name="Google Shape;157;p20"/>
          <p:cNvSpPr txBox="1"/>
          <p:nvPr>
            <p:ph idx="2" type="body"/>
          </p:nvPr>
        </p:nvSpPr>
        <p:spPr>
          <a:xfrm>
            <a:off x="457201" y="951311"/>
            <a:ext cx="3008400" cy="3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75" lIns="62300" spcFirstLastPara="1" rIns="31150" wrap="square" tIns="384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fin" showMasterSp="0">
  <p:cSld name="Diapositive de fin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>
            <a:off x="0" y="3746631"/>
            <a:ext cx="9144000" cy="14370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21"/>
          <p:cNvCxnSpPr/>
          <p:nvPr/>
        </p:nvCxnSpPr>
        <p:spPr>
          <a:xfrm>
            <a:off x="5451231" y="4138613"/>
            <a:ext cx="0" cy="567900"/>
          </a:xfrm>
          <a:prstGeom prst="straightConnector1">
            <a:avLst/>
          </a:prstGeom>
          <a:noFill/>
          <a:ln cap="flat" cmpd="sng" w="12700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showMasterSp="0">
  <p:cSld name="Vide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2"/>
          <p:cNvCxnSpPr/>
          <p:nvPr/>
        </p:nvCxnSpPr>
        <p:spPr>
          <a:xfrm>
            <a:off x="8725846" y="4988346"/>
            <a:ext cx="0" cy="139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22"/>
          <p:cNvSpPr txBox="1"/>
          <p:nvPr/>
        </p:nvSpPr>
        <p:spPr>
          <a:xfrm>
            <a:off x="8759542" y="4995879"/>
            <a:ext cx="375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15575" spcFirstLastPara="1" rIns="15575" wrap="square" tIns="3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fld id="{00000000-1234-1234-1234-123412341234}" type="slidenum">
              <a:rPr b="0" i="0" lang="fr" sz="8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22"/>
          <p:cNvPicPr preferRelativeResize="0"/>
          <p:nvPr/>
        </p:nvPicPr>
        <p:blipFill rotWithShape="1">
          <a:blip r:embed="rId2">
            <a:alphaModFix/>
          </a:blip>
          <a:srcRect b="23099" l="22714" r="21788" t="31916"/>
          <a:stretch/>
        </p:blipFill>
        <p:spPr>
          <a:xfrm>
            <a:off x="8137899" y="4971197"/>
            <a:ext cx="505943" cy="173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 rot="5400000">
            <a:off x="6289626" y="2346066"/>
            <a:ext cx="40350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b" bIns="15575" lIns="0" spcFirstLastPara="1" rIns="15575" wrap="square" tIns="384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 rot="5400000">
            <a:off x="1958989" y="-844884"/>
            <a:ext cx="4035000" cy="71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75" lIns="62300" spcFirstLastPara="1" rIns="31150" wrap="square" tIns="38475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▪"/>
              <a:defRPr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–"/>
              <a:defRPr/>
            </a:lvl2pPr>
            <a:lvl3pPr indent="-3302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o"/>
              <a:defRPr/>
            </a:lvl3pPr>
            <a:lvl4pPr indent="-3302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-"/>
              <a:defRPr/>
            </a:lvl4pPr>
            <a:lvl5pPr indent="-3302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">
  <p:cSld name="Titre et text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324000" y="-1"/>
            <a:ext cx="84969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Calibri"/>
              <a:buNone/>
              <a:defRPr sz="29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70" name="Google Shape;170;p24"/>
          <p:cNvSpPr txBox="1"/>
          <p:nvPr>
            <p:ph idx="12" type="sldNum"/>
          </p:nvPr>
        </p:nvSpPr>
        <p:spPr>
          <a:xfrm>
            <a:off x="8555760" y="4905453"/>
            <a:ext cx="270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324000" y="923400"/>
            <a:ext cx="8496900" cy="3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o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/>
          <p:nvPr/>
        </p:nvSpPr>
        <p:spPr>
          <a:xfrm>
            <a:off x="2988468" y="4888298"/>
            <a:ext cx="31671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50" lIns="31150" spcFirstLastPara="1" rIns="31150" wrap="square" tIns="311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Projet machine learning en  assurance</a:t>
            </a:r>
            <a:r>
              <a:rPr b="0" i="0" lang="fr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 | </a:t>
            </a:r>
            <a:r>
              <a:rPr lang="fr" sz="9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ISUP</a:t>
            </a:r>
            <a:endParaRPr b="0" i="0" sz="9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>
            <p:ph type="title"/>
          </p:nvPr>
        </p:nvSpPr>
        <p:spPr>
          <a:xfrm>
            <a:off x="417635" y="166688"/>
            <a:ext cx="83082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15575" lIns="0" spcFirstLastPara="1" rIns="15575" wrap="square" tIns="384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i="0" sz="2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i="0" sz="2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i="0" sz="2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i="0" sz="2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i="0" sz="2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i="0" sz="2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i="0" sz="2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i="0" sz="2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417625" y="961838"/>
            <a:ext cx="8308800" cy="3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75" lIns="62300" spcFirstLastPara="1" rIns="31150" wrap="square" tIns="38475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46457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rgbClr val="74645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46457"/>
              </a:buClr>
              <a:buSzPts val="1000"/>
              <a:buFont typeface="Courier New"/>
              <a:buChar char="o"/>
              <a:defRPr b="0" i="0" sz="1000" u="none" cap="none" strike="noStrike">
                <a:solidFill>
                  <a:srgbClr val="74645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46457"/>
              </a:buClr>
              <a:buSzPts val="1000"/>
              <a:buFont typeface="Arial"/>
              <a:buChar char="-"/>
              <a:defRPr b="0" i="0" sz="1000" u="none" cap="none" strike="noStrike">
                <a:solidFill>
                  <a:srgbClr val="74645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46457"/>
              </a:buClr>
              <a:buSzPts val="1000"/>
              <a:buFont typeface="Calibri"/>
              <a:buChar char="•"/>
              <a:defRPr b="0" i="0" sz="1000" u="none" cap="none" strike="noStrike">
                <a:solidFill>
                  <a:srgbClr val="74645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73050" lvl="5" marL="27432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08080"/>
              </a:buClr>
              <a:buSzPts val="700"/>
              <a:buFont typeface="Calibri"/>
              <a:buChar char="•"/>
              <a:defRPr b="0" i="0" sz="7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73050" lvl="6" marL="32004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08080"/>
              </a:buClr>
              <a:buSzPts val="700"/>
              <a:buFont typeface="Calibri"/>
              <a:buChar char="•"/>
              <a:defRPr b="0" i="0" sz="7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73050" lvl="7" marL="36576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08080"/>
              </a:buClr>
              <a:buSzPts val="700"/>
              <a:buFont typeface="Calibri"/>
              <a:buChar char="•"/>
              <a:defRPr b="0" i="0" sz="7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73050" lvl="8" marL="41148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08080"/>
              </a:buClr>
              <a:buSzPts val="700"/>
              <a:buFont typeface="Calibri"/>
              <a:buChar char="•"/>
              <a:defRPr b="0" i="0" sz="7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31" name="Google Shape;131;p14"/>
          <p:cNvCxnSpPr/>
          <p:nvPr/>
        </p:nvCxnSpPr>
        <p:spPr>
          <a:xfrm>
            <a:off x="366346" y="690563"/>
            <a:ext cx="1290000" cy="0"/>
          </a:xfrm>
          <a:prstGeom prst="straightConnector1">
            <a:avLst/>
          </a:prstGeom>
          <a:noFill/>
          <a:ln cap="flat" cmpd="sng" w="158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14"/>
          <p:cNvCxnSpPr/>
          <p:nvPr/>
        </p:nvCxnSpPr>
        <p:spPr>
          <a:xfrm>
            <a:off x="8725846" y="4912146"/>
            <a:ext cx="0" cy="139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14"/>
          <p:cNvSpPr txBox="1"/>
          <p:nvPr/>
        </p:nvSpPr>
        <p:spPr>
          <a:xfrm>
            <a:off x="8815223" y="4888298"/>
            <a:ext cx="2640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50" lIns="31150" spcFirstLastPara="1" rIns="31150" wrap="square" tIns="311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fr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685">
          <p15:clr>
            <a:srgbClr val="547EBF"/>
          </p15:clr>
        </p15:guide>
        <p15:guide id="2" pos="263">
          <p15:clr>
            <a:srgbClr val="547EBF"/>
          </p15:clr>
        </p15:guide>
        <p15:guide id="3" pos="5497">
          <p15:clr>
            <a:srgbClr val="547EBF"/>
          </p15:clr>
        </p15:guide>
        <p15:guide id="4" pos="2880">
          <p15:clr>
            <a:srgbClr val="F26B43"/>
          </p15:clr>
        </p15:guide>
        <p15:guide id="5" orient="horz" pos="2705">
          <p15:clr>
            <a:srgbClr val="547EBF"/>
          </p15:clr>
        </p15:guide>
        <p15:guide id="6" orient="horz" pos="16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idx="1" type="subTitle"/>
          </p:nvPr>
        </p:nvSpPr>
        <p:spPr>
          <a:xfrm>
            <a:off x="5270950" y="402350"/>
            <a:ext cx="3470700" cy="25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b="1" lang="fr" sz="3600">
                <a:solidFill>
                  <a:schemeClr val="dk2"/>
                </a:solidFill>
              </a:rPr>
              <a:t>Projet Machine Learning </a:t>
            </a:r>
            <a:endParaRPr b="1" sz="3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b="1" lang="fr" sz="3600">
                <a:solidFill>
                  <a:schemeClr val="dk2"/>
                </a:solidFill>
              </a:rPr>
              <a:t>en assurance</a:t>
            </a:r>
            <a:endParaRPr b="1" sz="3600">
              <a:solidFill>
                <a:schemeClr val="dk2"/>
              </a:solidFill>
            </a:endParaRPr>
          </a:p>
        </p:txBody>
      </p:sp>
      <p:sp>
        <p:nvSpPr>
          <p:cNvPr id="178" name="Google Shape;178;p25"/>
          <p:cNvSpPr txBox="1"/>
          <p:nvPr>
            <p:ph type="ctrTitle"/>
          </p:nvPr>
        </p:nvSpPr>
        <p:spPr>
          <a:xfrm>
            <a:off x="217475" y="2599800"/>
            <a:ext cx="6188400" cy="13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50" lIns="31150" spcFirstLastPara="1" rIns="31150" wrap="square" tIns="31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">
                <a:solidFill>
                  <a:schemeClr val="dk2"/>
                </a:solidFill>
              </a:rPr>
              <a:t>Groupe CZSS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" sz="2500">
                <a:solidFill>
                  <a:schemeClr val="dk2"/>
                </a:solidFill>
              </a:rPr>
              <a:t>Nicolas COBAN, Mouhamadou SECK, Hugo SEUMEN, Ilies ZOUATNIA</a:t>
            </a:r>
            <a:endParaRPr sz="2500">
              <a:solidFill>
                <a:schemeClr val="dk2"/>
              </a:solidFill>
            </a:endParaRPr>
          </a:p>
        </p:txBody>
      </p:sp>
      <p:pic>
        <p:nvPicPr>
          <p:cNvPr id="179" name="Google Shape;1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0425" y="3445000"/>
            <a:ext cx="1468850" cy="146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" type="body"/>
          </p:nvPr>
        </p:nvSpPr>
        <p:spPr>
          <a:xfrm>
            <a:off x="417625" y="783425"/>
            <a:ext cx="8308800" cy="4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75" lIns="62300" spcFirstLastPara="1" rIns="31150" wrap="square" tIns="38475">
            <a:noAutofit/>
          </a:bodyPr>
          <a:lstStyle/>
          <a:p>
            <a:pPr indent="0" lvl="0" marL="381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00"/>
              <a:buNone/>
            </a:pPr>
            <a:r>
              <a:rPr lang="fr" sz="1200"/>
              <a:t>1 </a:t>
            </a:r>
            <a:r>
              <a:rPr lang="fr" sz="1200">
                <a:solidFill>
                  <a:schemeClr val="accent6"/>
                </a:solidFill>
              </a:rPr>
              <a:t>|</a:t>
            </a:r>
            <a:r>
              <a:rPr lang="fr" sz="1200"/>
              <a:t> Présentation générale du projet et des données</a:t>
            </a:r>
            <a:endParaRPr sz="900"/>
          </a:p>
          <a:p>
            <a:pPr indent="0" lvl="1" marL="431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None/>
            </a:pPr>
            <a:r>
              <a:rPr lang="fr" sz="1100"/>
              <a:t>1.1 </a:t>
            </a:r>
            <a:r>
              <a:rPr lang="fr" sz="1100">
                <a:solidFill>
                  <a:schemeClr val="accent6"/>
                </a:solidFill>
              </a:rPr>
              <a:t>| </a:t>
            </a:r>
            <a:r>
              <a:rPr lang="fr" sz="1100"/>
              <a:t>Présentation de la problématique</a:t>
            </a:r>
            <a:endParaRPr sz="700"/>
          </a:p>
          <a:p>
            <a:pPr indent="0" lvl="1" marL="431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None/>
            </a:pPr>
            <a:r>
              <a:rPr lang="fr" sz="1100"/>
              <a:t>1.2 </a:t>
            </a:r>
            <a:r>
              <a:rPr lang="fr" sz="1100">
                <a:solidFill>
                  <a:schemeClr val="accent6"/>
                </a:solidFill>
              </a:rPr>
              <a:t>|</a:t>
            </a:r>
            <a:r>
              <a:rPr lang="fr" sz="1100"/>
              <a:t> Présentation des données</a:t>
            </a:r>
            <a:endParaRPr sz="700"/>
          </a:p>
          <a:p>
            <a:pPr indent="0" lvl="1" marL="431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None/>
            </a:pPr>
            <a:r>
              <a:rPr lang="fr" sz="1100"/>
              <a:t>1.3 </a:t>
            </a:r>
            <a:r>
              <a:rPr lang="fr" sz="1100">
                <a:solidFill>
                  <a:schemeClr val="accent6"/>
                </a:solidFill>
              </a:rPr>
              <a:t>|</a:t>
            </a:r>
            <a:r>
              <a:rPr lang="fr" sz="1100"/>
              <a:t> Nettoyage des données</a:t>
            </a:r>
            <a:endParaRPr sz="700"/>
          </a:p>
          <a:p>
            <a:pPr indent="0" lvl="1" marL="431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None/>
            </a:pPr>
            <a:r>
              <a:rPr lang="fr" sz="1100"/>
              <a:t>1.4 </a:t>
            </a:r>
            <a:r>
              <a:rPr lang="fr" sz="1100">
                <a:solidFill>
                  <a:schemeClr val="accent6"/>
                </a:solidFill>
              </a:rPr>
              <a:t>|</a:t>
            </a:r>
            <a:r>
              <a:rPr lang="fr" sz="1100"/>
              <a:t> Analyse exploratoire</a:t>
            </a:r>
            <a:endParaRPr sz="700"/>
          </a:p>
          <a:p>
            <a:pPr indent="0" lvl="1" marL="431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700"/>
          </a:p>
          <a:p>
            <a:pPr indent="0" lvl="0" marL="381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fr" sz="1200"/>
              <a:t>2</a:t>
            </a:r>
            <a:r>
              <a:rPr lang="fr" sz="1200"/>
              <a:t> </a:t>
            </a:r>
            <a:r>
              <a:rPr lang="fr" sz="1200">
                <a:solidFill>
                  <a:schemeClr val="accent6"/>
                </a:solidFill>
              </a:rPr>
              <a:t>| </a:t>
            </a:r>
            <a:r>
              <a:rPr lang="fr" sz="1200"/>
              <a:t>M</a:t>
            </a:r>
            <a:r>
              <a:rPr lang="fr" sz="1200"/>
              <a:t>odélisation Machine Learning</a:t>
            </a:r>
            <a:endParaRPr sz="900"/>
          </a:p>
          <a:p>
            <a:pPr indent="0" lvl="1" marL="431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None/>
            </a:pPr>
            <a:r>
              <a:rPr lang="fr" sz="1100"/>
              <a:t>2.1 </a:t>
            </a:r>
            <a:r>
              <a:rPr lang="fr" sz="1100">
                <a:solidFill>
                  <a:schemeClr val="accent6"/>
                </a:solidFill>
              </a:rPr>
              <a:t>|</a:t>
            </a:r>
            <a:r>
              <a:rPr lang="fr" sz="1100"/>
              <a:t> Préparation des données</a:t>
            </a:r>
            <a:endParaRPr sz="700"/>
          </a:p>
          <a:p>
            <a:pPr indent="0" lvl="1" marL="431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None/>
            </a:pPr>
            <a:r>
              <a:rPr lang="fr" sz="1100"/>
              <a:t>2.2 </a:t>
            </a:r>
            <a:r>
              <a:rPr lang="fr" sz="1100">
                <a:solidFill>
                  <a:schemeClr val="accent6"/>
                </a:solidFill>
              </a:rPr>
              <a:t>|</a:t>
            </a:r>
            <a:r>
              <a:rPr lang="fr" sz="1100"/>
              <a:t> Modélisation</a:t>
            </a:r>
            <a:endParaRPr sz="1100"/>
          </a:p>
          <a:p>
            <a:pPr indent="0" lvl="1" marL="431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None/>
            </a:pPr>
            <a:r>
              <a:rPr lang="fr" sz="1100"/>
              <a:t>2.3 </a:t>
            </a:r>
            <a:r>
              <a:rPr lang="fr" sz="1100">
                <a:solidFill>
                  <a:schemeClr val="accent6"/>
                </a:solidFill>
              </a:rPr>
              <a:t>|</a:t>
            </a:r>
            <a:r>
              <a:rPr lang="fr" sz="1100"/>
              <a:t> Résultats préliminaires</a:t>
            </a:r>
            <a:endParaRPr sz="1100"/>
          </a:p>
          <a:p>
            <a:pPr indent="0" lvl="1" marL="431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None/>
            </a:pPr>
            <a:r>
              <a:rPr lang="fr" sz="1100"/>
              <a:t>2.4 </a:t>
            </a:r>
            <a:r>
              <a:rPr lang="fr" sz="1100">
                <a:solidFill>
                  <a:schemeClr val="accent6"/>
                </a:solidFill>
              </a:rPr>
              <a:t>|</a:t>
            </a:r>
            <a:r>
              <a:rPr lang="fr" sz="1100"/>
              <a:t> Optimisation XGBoost</a:t>
            </a:r>
            <a:endParaRPr sz="1100"/>
          </a:p>
          <a:p>
            <a:pPr indent="0" lvl="1" marL="431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700"/>
          </a:p>
          <a:p>
            <a:pPr indent="0" lvl="0" marL="381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fr" sz="1200"/>
              <a:t>3</a:t>
            </a:r>
            <a:r>
              <a:rPr lang="fr" sz="1200"/>
              <a:t> </a:t>
            </a:r>
            <a:r>
              <a:rPr lang="fr" sz="1200">
                <a:solidFill>
                  <a:schemeClr val="accent6"/>
                </a:solidFill>
              </a:rPr>
              <a:t>|</a:t>
            </a:r>
            <a:r>
              <a:rPr lang="fr" sz="1200"/>
              <a:t> Interprétation des résultats</a:t>
            </a:r>
            <a:endParaRPr sz="900"/>
          </a:p>
          <a:p>
            <a:pPr indent="0" lvl="1" marL="431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None/>
            </a:pPr>
            <a:r>
              <a:rPr lang="fr" sz="1100"/>
              <a:t>3.1 </a:t>
            </a:r>
            <a:r>
              <a:rPr lang="fr" sz="1100">
                <a:solidFill>
                  <a:schemeClr val="accent6"/>
                </a:solidFill>
              </a:rPr>
              <a:t>|</a:t>
            </a:r>
            <a:r>
              <a:rPr lang="fr" sz="1100"/>
              <a:t> Analyse des résultats et comparaison</a:t>
            </a:r>
            <a:endParaRPr sz="700"/>
          </a:p>
          <a:p>
            <a:pPr indent="0" lvl="1" marL="431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None/>
            </a:pPr>
            <a:r>
              <a:rPr lang="fr" sz="1100"/>
              <a:t>3.2 </a:t>
            </a:r>
            <a:r>
              <a:rPr lang="fr" sz="1100">
                <a:solidFill>
                  <a:schemeClr val="accent6"/>
                </a:solidFill>
              </a:rPr>
              <a:t>|</a:t>
            </a:r>
            <a:r>
              <a:rPr lang="fr" sz="1100"/>
              <a:t> Conclusion sur l’utilisation des modèles</a:t>
            </a:r>
            <a:endParaRPr sz="700"/>
          </a:p>
        </p:txBody>
      </p:sp>
      <p:sp>
        <p:nvSpPr>
          <p:cNvPr id="186" name="Google Shape;186;p26"/>
          <p:cNvSpPr txBox="1"/>
          <p:nvPr>
            <p:ph type="title"/>
          </p:nvPr>
        </p:nvSpPr>
        <p:spPr>
          <a:xfrm>
            <a:off x="417634" y="166688"/>
            <a:ext cx="83088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15575" lIns="0" spcFirstLastPara="1" rIns="15575" wrap="square" tIns="384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" sz="2200"/>
              <a:t>S</a:t>
            </a:r>
            <a:r>
              <a:rPr lang="fr" sz="2200"/>
              <a:t>ommaire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" type="body"/>
          </p:nvPr>
        </p:nvSpPr>
        <p:spPr>
          <a:xfrm>
            <a:off x="185052" y="681540"/>
            <a:ext cx="1263000" cy="10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6200"/>
              <a:buNone/>
            </a:pPr>
            <a:r>
              <a:rPr lang="fr"/>
              <a:t>1</a:t>
            </a:r>
            <a:endParaRPr/>
          </a:p>
        </p:txBody>
      </p:sp>
      <p:sp>
        <p:nvSpPr>
          <p:cNvPr id="193" name="Google Shape;193;p27"/>
          <p:cNvSpPr txBox="1"/>
          <p:nvPr>
            <p:ph idx="2" type="body"/>
          </p:nvPr>
        </p:nvSpPr>
        <p:spPr>
          <a:xfrm>
            <a:off x="1963300" y="742225"/>
            <a:ext cx="59031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2300" spcFirstLastPara="1" rIns="31150" wrap="square" tIns="384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fr" sz="4200"/>
              <a:t>Présentation générale du projet et des données</a:t>
            </a:r>
            <a:endParaRPr sz="4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417625" y="1087051"/>
            <a:ext cx="8308800" cy="3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75" lIns="62300" spcFirstLastPara="1" rIns="31150" wrap="square" tIns="38475">
            <a:noAutofit/>
          </a:bodyPr>
          <a:lstStyle/>
          <a:p>
            <a:pPr indent="-298450" lvl="0" marL="3937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700"/>
              <a:buChar char="▪"/>
            </a:pPr>
            <a:r>
              <a:rPr lang="fr" sz="1700"/>
              <a:t>Enjeu crucial de la </a:t>
            </a:r>
            <a:r>
              <a:rPr lang="fr" sz="1700"/>
              <a:t>Sécurité routière</a:t>
            </a:r>
            <a:endParaRPr sz="1700"/>
          </a:p>
          <a:p>
            <a:pPr indent="-285750" lvl="1" marL="787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</a:pPr>
            <a:r>
              <a:rPr lang="fr" sz="1500">
                <a:solidFill>
                  <a:schemeClr val="dk1"/>
                </a:solidFill>
              </a:rPr>
              <a:t>Plan humain et financier</a:t>
            </a:r>
            <a:endParaRPr sz="1500">
              <a:solidFill>
                <a:schemeClr val="dk1"/>
              </a:solidFill>
            </a:endParaRPr>
          </a:p>
          <a:p>
            <a:pPr indent="-285750" lvl="1" marL="787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</a:pPr>
            <a:r>
              <a:rPr lang="fr" sz="1500">
                <a:solidFill>
                  <a:schemeClr val="dk1"/>
                </a:solidFill>
              </a:rPr>
              <a:t>50 000 accidents corporels en France en 2023</a:t>
            </a:r>
            <a:endParaRPr sz="1500">
              <a:solidFill>
                <a:schemeClr val="dk1"/>
              </a:solidFill>
            </a:endParaRPr>
          </a:p>
          <a:p>
            <a:pPr indent="-285750" lvl="1" marL="787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</a:pPr>
            <a:r>
              <a:rPr lang="fr" sz="1500">
                <a:solidFill>
                  <a:schemeClr val="dk1"/>
                </a:solidFill>
              </a:rPr>
              <a:t>Intérêt essentiel pour les compagnies d’assurance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/>
          </a:p>
          <a:p>
            <a:pPr indent="-298450" lvl="0" marL="393700" rtl="0" algn="l">
              <a:spcBef>
                <a:spcPts val="200"/>
              </a:spcBef>
              <a:spcAft>
                <a:spcPts val="0"/>
              </a:spcAft>
              <a:buSzPts val="1700"/>
              <a:buChar char="▪"/>
            </a:pPr>
            <a:r>
              <a:rPr lang="fr" sz="1700"/>
              <a:t>Problématique</a:t>
            </a:r>
            <a:endParaRPr sz="1700"/>
          </a:p>
          <a:p>
            <a:pPr indent="-285750" lvl="1" marL="787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</a:pPr>
            <a:r>
              <a:rPr lang="fr" sz="1500">
                <a:solidFill>
                  <a:schemeClr val="dk1"/>
                </a:solidFill>
              </a:rPr>
              <a:t>Comment utiliser le Machine Learning pour prédire la gravité d’un accident en fonction de multiples facteurs ?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/>
          </a:p>
          <a:p>
            <a:pPr indent="-298450" lvl="0" marL="3937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700"/>
              <a:buChar char="▪"/>
            </a:pPr>
            <a:r>
              <a:rPr lang="fr" sz="1700"/>
              <a:t>Objectif double</a:t>
            </a:r>
            <a:endParaRPr sz="1500"/>
          </a:p>
          <a:p>
            <a:pPr indent="-285750" lvl="1" marL="787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–"/>
            </a:pPr>
            <a:r>
              <a:rPr lang="fr" sz="1500">
                <a:solidFill>
                  <a:schemeClr val="dk1"/>
                </a:solidFill>
              </a:rPr>
              <a:t>Identifier les éléments qui augmentent les risques graves</a:t>
            </a:r>
            <a:endParaRPr sz="1500">
              <a:solidFill>
                <a:schemeClr val="dk1"/>
              </a:solidFill>
            </a:endParaRPr>
          </a:p>
          <a:p>
            <a:pPr indent="-285750" lvl="1" marL="787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–"/>
            </a:pPr>
            <a:r>
              <a:rPr lang="fr" sz="1500">
                <a:solidFill>
                  <a:schemeClr val="dk1"/>
                </a:solidFill>
              </a:rPr>
              <a:t>Proposer des solutions concrètes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99" name="Google Shape;199;p28"/>
          <p:cNvSpPr txBox="1"/>
          <p:nvPr>
            <p:ph type="title"/>
          </p:nvPr>
        </p:nvSpPr>
        <p:spPr>
          <a:xfrm>
            <a:off x="417634" y="166688"/>
            <a:ext cx="83088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15575" lIns="0" spcFirstLastPara="1" rIns="15575" wrap="square" tIns="384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"/>
              <a:t>1</a:t>
            </a:r>
            <a:r>
              <a:rPr lang="fr"/>
              <a:t>.1 </a:t>
            </a:r>
            <a:r>
              <a:rPr lang="fr"/>
              <a:t>Présentation de la problématique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417634" y="166688"/>
            <a:ext cx="83088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15575" lIns="0" spcFirstLastPara="1" rIns="15575" wrap="square" tIns="384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"/>
              <a:t>1.2 Présentation des données</a:t>
            </a:r>
            <a:endParaRPr/>
          </a:p>
        </p:txBody>
      </p:sp>
      <p:pic>
        <p:nvPicPr>
          <p:cNvPr id="205" name="Google Shape;2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5238"/>
            <a:ext cx="8839197" cy="3073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417634" y="166688"/>
            <a:ext cx="83088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15575" lIns="0" spcFirstLastPara="1" rIns="15575" wrap="square" tIns="384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"/>
              <a:t>1.3 Nettoyage des données</a:t>
            </a:r>
            <a:endParaRPr/>
          </a:p>
        </p:txBody>
      </p:sp>
      <p:pic>
        <p:nvPicPr>
          <p:cNvPr id="211" name="Google Shape;21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25" y="760263"/>
            <a:ext cx="8839200" cy="3622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417634" y="166688"/>
            <a:ext cx="8308800" cy="515400"/>
          </a:xfrm>
          <a:prstGeom prst="rect">
            <a:avLst/>
          </a:prstGeom>
        </p:spPr>
        <p:txBody>
          <a:bodyPr anchorCtr="0" anchor="b" bIns="15575" lIns="0" spcFirstLastPara="1" rIns="15575" wrap="square" tIns="3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1.4 Analyse exploratoire</a:t>
            </a:r>
            <a:endParaRPr/>
          </a:p>
        </p:txBody>
      </p:sp>
      <p:pic>
        <p:nvPicPr>
          <p:cNvPr id="217" name="Google Shape;21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625" y="948850"/>
            <a:ext cx="4309875" cy="215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1"/>
          <p:cNvPicPr preferRelativeResize="0"/>
          <p:nvPr/>
        </p:nvPicPr>
        <p:blipFill rotWithShape="1">
          <a:blip r:embed="rId4">
            <a:alphaModFix/>
          </a:blip>
          <a:srcRect b="-1887" l="-9727" r="-5387" t="-13226"/>
          <a:stretch/>
        </p:blipFill>
        <p:spPr>
          <a:xfrm>
            <a:off x="4154250" y="682100"/>
            <a:ext cx="4842274" cy="242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1"/>
          <p:cNvPicPr preferRelativeResize="0"/>
          <p:nvPr/>
        </p:nvPicPr>
        <p:blipFill rotWithShape="1">
          <a:blip r:embed="rId5">
            <a:alphaModFix/>
          </a:blip>
          <a:srcRect b="0" l="0" r="0" t="9510"/>
          <a:stretch/>
        </p:blipFill>
        <p:spPr>
          <a:xfrm>
            <a:off x="2451250" y="2804200"/>
            <a:ext cx="4241501" cy="192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417634" y="166688"/>
            <a:ext cx="8308800" cy="515400"/>
          </a:xfrm>
          <a:prstGeom prst="rect">
            <a:avLst/>
          </a:prstGeom>
        </p:spPr>
        <p:txBody>
          <a:bodyPr anchorCtr="0" anchor="b" bIns="15575" lIns="0" spcFirstLastPara="1" rIns="15575" wrap="square" tIns="3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1.4 Analyse exploratoire</a:t>
            </a:r>
            <a:endParaRPr/>
          </a:p>
        </p:txBody>
      </p:sp>
      <p:pic>
        <p:nvPicPr>
          <p:cNvPr id="225" name="Google Shape;22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912" y="834475"/>
            <a:ext cx="6208226" cy="423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/>
          <p:nvPr>
            <p:ph type="title"/>
          </p:nvPr>
        </p:nvSpPr>
        <p:spPr>
          <a:xfrm>
            <a:off x="417634" y="166688"/>
            <a:ext cx="8308800" cy="515400"/>
          </a:xfrm>
          <a:prstGeom prst="rect">
            <a:avLst/>
          </a:prstGeom>
        </p:spPr>
        <p:txBody>
          <a:bodyPr anchorCtr="0" anchor="b" bIns="15575" lIns="0" spcFirstLastPara="1" rIns="15575" wrap="square" tIns="3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1.4 Analyse exploratoire</a:t>
            </a:r>
            <a:endParaRPr/>
          </a:p>
        </p:txBody>
      </p:sp>
      <p:pic>
        <p:nvPicPr>
          <p:cNvPr id="231" name="Google Shape;23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9738" y="868450"/>
            <a:ext cx="5144525" cy="427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>
            <p:ph idx="1" type="body"/>
          </p:nvPr>
        </p:nvSpPr>
        <p:spPr>
          <a:xfrm>
            <a:off x="185052" y="681540"/>
            <a:ext cx="1263000" cy="10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6200"/>
              <a:buNone/>
            </a:pPr>
            <a:r>
              <a:rPr lang="fr"/>
              <a:t>2</a:t>
            </a:r>
            <a:endParaRPr/>
          </a:p>
        </p:txBody>
      </p:sp>
      <p:sp>
        <p:nvSpPr>
          <p:cNvPr id="238" name="Google Shape;238;p34"/>
          <p:cNvSpPr txBox="1"/>
          <p:nvPr>
            <p:ph idx="2" type="body"/>
          </p:nvPr>
        </p:nvSpPr>
        <p:spPr>
          <a:xfrm>
            <a:off x="1944775" y="836500"/>
            <a:ext cx="59031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2300" spcFirstLastPara="1" rIns="31150" wrap="square" tIns="384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fr" sz="4200"/>
              <a:t>Modélisation Machine Learning</a:t>
            </a:r>
            <a:endParaRPr sz="4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idx="1" type="body"/>
          </p:nvPr>
        </p:nvSpPr>
        <p:spPr>
          <a:xfrm>
            <a:off x="265775" y="1025350"/>
            <a:ext cx="8496900" cy="12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Train test split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Column Transformer : One-Hot Encoding</a:t>
            </a:r>
            <a:endParaRPr/>
          </a:p>
        </p:txBody>
      </p:sp>
      <p:sp>
        <p:nvSpPr>
          <p:cNvPr id="244" name="Google Shape;244;p35"/>
          <p:cNvSpPr txBox="1"/>
          <p:nvPr>
            <p:ph type="title"/>
          </p:nvPr>
        </p:nvSpPr>
        <p:spPr>
          <a:xfrm>
            <a:off x="324000" y="0"/>
            <a:ext cx="8496900" cy="64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2.1 Préparation des données</a:t>
            </a:r>
            <a:endParaRPr sz="2400"/>
          </a:p>
        </p:txBody>
      </p:sp>
      <p:graphicFrame>
        <p:nvGraphicFramePr>
          <p:cNvPr id="245" name="Google Shape;245;p35"/>
          <p:cNvGraphicFramePr/>
          <p:nvPr/>
        </p:nvGraphicFramePr>
        <p:xfrm>
          <a:off x="1482225" y="31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{E85F4E57-42CA-4603-AE23-07E2851FB653}</a:tableStyleId>
              </a:tblPr>
              <a:tblGrid>
                <a:gridCol w="1511175"/>
              </a:tblGrid>
              <a:tr h="38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Conditions météo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4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4</a:t>
                      </a:r>
                      <a:r>
                        <a:rPr lang="fr" sz="1100"/>
                        <a:t>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8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46" name="Google Shape;246;p35"/>
          <p:cNvCxnSpPr/>
          <p:nvPr/>
        </p:nvCxnSpPr>
        <p:spPr>
          <a:xfrm flipH="1" rot="10800000">
            <a:off x="3705375" y="3706350"/>
            <a:ext cx="852600" cy="9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47" name="Google Shape;247;p35"/>
          <p:cNvGraphicFramePr/>
          <p:nvPr/>
        </p:nvGraphicFramePr>
        <p:xfrm>
          <a:off x="5108150" y="31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{E85F4E57-42CA-4603-AE23-07E2851FB653}</a:tableStyleId>
              </a:tblPr>
              <a:tblGrid>
                <a:gridCol w="1116075"/>
                <a:gridCol w="1357125"/>
              </a:tblGrid>
              <a:tr h="380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Pluie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Beau temps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True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False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False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True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8" name="Google Shape;248;p35"/>
          <p:cNvSpPr txBox="1"/>
          <p:nvPr/>
        </p:nvSpPr>
        <p:spPr>
          <a:xfrm>
            <a:off x="302100" y="4355750"/>
            <a:ext cx="26913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5"/>
          <p:cNvSpPr txBox="1"/>
          <p:nvPr>
            <p:ph idx="1" type="body"/>
          </p:nvPr>
        </p:nvSpPr>
        <p:spPr>
          <a:xfrm>
            <a:off x="381325" y="2116913"/>
            <a:ext cx="8496900" cy="77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Schéma One-Hot Encoding 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4 &lt;- Pluie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8 &lt;- Beau temps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/>
          <p:nvPr>
            <p:ph type="title"/>
          </p:nvPr>
        </p:nvSpPr>
        <p:spPr>
          <a:xfrm>
            <a:off x="324000" y="0"/>
            <a:ext cx="8496900" cy="659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2.2 Modélisation</a:t>
            </a:r>
            <a:endParaRPr sz="2400"/>
          </a:p>
        </p:txBody>
      </p:sp>
      <p:sp>
        <p:nvSpPr>
          <p:cNvPr id="255" name="Google Shape;255;p36"/>
          <p:cNvSpPr txBox="1"/>
          <p:nvPr>
            <p:ph idx="1" type="body"/>
          </p:nvPr>
        </p:nvSpPr>
        <p:spPr>
          <a:xfrm>
            <a:off x="324000" y="1087050"/>
            <a:ext cx="4248000" cy="163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Modèles </a:t>
            </a:r>
            <a:r>
              <a:rPr lang="fr" sz="1800"/>
              <a:t>entraînés</a:t>
            </a:r>
            <a:r>
              <a:rPr lang="fr" sz="1800"/>
              <a:t> :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 sz="1800"/>
              <a:t>Réseau de </a:t>
            </a:r>
            <a:r>
              <a:rPr lang="fr" sz="1800"/>
              <a:t>neurones</a:t>
            </a:r>
            <a:r>
              <a:rPr lang="fr" sz="1800"/>
              <a:t> à 3 couches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 sz="1800"/>
              <a:t>Support Vector Machines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 sz="1800"/>
              <a:t>Random Forest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 sz="1800"/>
              <a:t>XGBoost</a:t>
            </a:r>
            <a:endParaRPr sz="1800"/>
          </a:p>
        </p:txBody>
      </p:sp>
      <p:sp>
        <p:nvSpPr>
          <p:cNvPr id="256" name="Google Shape;256;p36"/>
          <p:cNvSpPr txBox="1"/>
          <p:nvPr>
            <p:ph idx="1" type="body"/>
          </p:nvPr>
        </p:nvSpPr>
        <p:spPr>
          <a:xfrm>
            <a:off x="374450" y="3000275"/>
            <a:ext cx="2591100" cy="9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Métrique </a:t>
            </a:r>
            <a:r>
              <a:rPr lang="fr" sz="1800"/>
              <a:t>d'évaluation</a:t>
            </a:r>
            <a:r>
              <a:rPr lang="fr" sz="1800"/>
              <a:t> :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Recall = </a:t>
            </a:r>
            <a:endParaRPr b="0"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7" name="Google Shape;257;p36"/>
          <p:cNvGraphicFramePr/>
          <p:nvPr/>
        </p:nvGraphicFramePr>
        <p:xfrm>
          <a:off x="1236100" y="352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{E85F4E57-42CA-4603-AE23-07E2851FB653}</a:tableStyleId>
              </a:tblPr>
              <a:tblGrid>
                <a:gridCol w="2969100"/>
              </a:tblGrid>
              <a:tr h="17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Vrais positifs</a:t>
                      </a:r>
                      <a:endParaRPr b="1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Vrais positifs + Faux négatifs</a:t>
                      </a:r>
                      <a:r>
                        <a:rPr lang="fr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/>
          <p:nvPr>
            <p:ph type="title"/>
          </p:nvPr>
        </p:nvSpPr>
        <p:spPr>
          <a:xfrm>
            <a:off x="324000" y="0"/>
            <a:ext cx="8496900" cy="6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2.3 </a:t>
            </a:r>
            <a:r>
              <a:rPr lang="fr" sz="2400"/>
              <a:t>Résultats</a:t>
            </a:r>
            <a:r>
              <a:rPr lang="fr" sz="2400"/>
              <a:t> Préliminaires</a:t>
            </a:r>
            <a:endParaRPr sz="2400"/>
          </a:p>
        </p:txBody>
      </p:sp>
      <p:sp>
        <p:nvSpPr>
          <p:cNvPr id="263" name="Google Shape;263;p37"/>
          <p:cNvSpPr txBox="1"/>
          <p:nvPr>
            <p:ph idx="1" type="body"/>
          </p:nvPr>
        </p:nvSpPr>
        <p:spPr>
          <a:xfrm>
            <a:off x="324000" y="1303200"/>
            <a:ext cx="8496900" cy="35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Courbes d’apprentissage</a:t>
            </a:r>
            <a:endParaRPr/>
          </a:p>
        </p:txBody>
      </p:sp>
      <p:pic>
        <p:nvPicPr>
          <p:cNvPr id="264" name="Google Shape;26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939" y="2031127"/>
            <a:ext cx="3079311" cy="2015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6627" y="2026822"/>
            <a:ext cx="3078000" cy="2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7"/>
          <p:cNvSpPr txBox="1"/>
          <p:nvPr/>
        </p:nvSpPr>
        <p:spPr>
          <a:xfrm>
            <a:off x="763950" y="1649550"/>
            <a:ext cx="268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Réseau de neurones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7"/>
          <p:cNvSpPr txBox="1"/>
          <p:nvPr/>
        </p:nvSpPr>
        <p:spPr>
          <a:xfrm>
            <a:off x="5326625" y="1649550"/>
            <a:ext cx="2582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SVM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/>
          <p:nvPr>
            <p:ph type="title"/>
          </p:nvPr>
        </p:nvSpPr>
        <p:spPr>
          <a:xfrm>
            <a:off x="324000" y="0"/>
            <a:ext cx="8496900" cy="648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2.3 Résultats Préliminaires</a:t>
            </a:r>
            <a:endParaRPr sz="2400"/>
          </a:p>
        </p:txBody>
      </p:sp>
      <p:sp>
        <p:nvSpPr>
          <p:cNvPr id="273" name="Google Shape;273;p38"/>
          <p:cNvSpPr txBox="1"/>
          <p:nvPr>
            <p:ph idx="1" type="body"/>
          </p:nvPr>
        </p:nvSpPr>
        <p:spPr>
          <a:xfrm>
            <a:off x="324000" y="1304400"/>
            <a:ext cx="8496900" cy="35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Courbes d’apprentissage</a:t>
            </a:r>
            <a:endParaRPr/>
          </a:p>
        </p:txBody>
      </p:sp>
      <p:sp>
        <p:nvSpPr>
          <p:cNvPr id="274" name="Google Shape;274;p38"/>
          <p:cNvSpPr txBox="1"/>
          <p:nvPr/>
        </p:nvSpPr>
        <p:spPr>
          <a:xfrm>
            <a:off x="763950" y="1650750"/>
            <a:ext cx="35118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8"/>
          <p:cNvSpPr txBox="1"/>
          <p:nvPr/>
        </p:nvSpPr>
        <p:spPr>
          <a:xfrm>
            <a:off x="5326625" y="1650750"/>
            <a:ext cx="2582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8000" y="2031000"/>
            <a:ext cx="3077999" cy="2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200" y="2031000"/>
            <a:ext cx="3077999" cy="20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/>
          <p:nvPr>
            <p:ph type="title"/>
          </p:nvPr>
        </p:nvSpPr>
        <p:spPr>
          <a:xfrm>
            <a:off x="324000" y="0"/>
            <a:ext cx="8496900" cy="648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2.4 Optimisation XGBoost</a:t>
            </a:r>
            <a:endParaRPr sz="2400"/>
          </a:p>
        </p:txBody>
      </p:sp>
      <p:sp>
        <p:nvSpPr>
          <p:cNvPr id="283" name="Google Shape;283;p39"/>
          <p:cNvSpPr txBox="1"/>
          <p:nvPr>
            <p:ph idx="1" type="body"/>
          </p:nvPr>
        </p:nvSpPr>
        <p:spPr>
          <a:xfrm>
            <a:off x="324000" y="1711000"/>
            <a:ext cx="41547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Hyperparamètres optimisés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84" name="Google Shape;284;p39"/>
          <p:cNvGraphicFramePr/>
          <p:nvPr/>
        </p:nvGraphicFramePr>
        <p:xfrm>
          <a:off x="324000" y="226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{E85F4E57-42CA-4603-AE23-07E2851FB653}</a:tableStyleId>
              </a:tblPr>
              <a:tblGrid>
                <a:gridCol w="2238075"/>
                <a:gridCol w="1340550"/>
              </a:tblGrid>
              <a:tr h="24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Nombre d’arbres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solidFill>
                            <a:schemeClr val="dk1"/>
                          </a:solidFill>
                        </a:rPr>
                        <a:t>[50 ; 300] </a:t>
                      </a:r>
                      <a:r>
                        <a:rPr lang="fr" sz="900">
                          <a:solidFill>
                            <a:schemeClr val="dk1"/>
                          </a:solidFill>
                        </a:rPr>
                        <a:t> par pas de 50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Profondeur maximale des arbres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solidFill>
                            <a:schemeClr val="dk1"/>
                          </a:solidFill>
                        </a:rPr>
                        <a:t>[3 ; 9]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Learning rate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solidFill>
                            <a:schemeClr val="dk1"/>
                          </a:solidFill>
                        </a:rPr>
                        <a:t>[0.01 ; 0.3]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5" name="Google Shape;285;p39"/>
          <p:cNvGraphicFramePr/>
          <p:nvPr/>
        </p:nvGraphicFramePr>
        <p:xfrm>
          <a:off x="4934350" y="227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{E85F4E57-42CA-4603-AE23-07E2851FB653}</a:tableStyleId>
              </a:tblPr>
              <a:tblGrid>
                <a:gridCol w="2456900"/>
                <a:gridCol w="1471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Nombre d’itérations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solidFill>
                            <a:schemeClr val="dk1"/>
                          </a:solidFill>
                        </a:rPr>
                        <a:t>10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Score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solidFill>
                            <a:schemeClr val="dk1"/>
                          </a:solidFill>
                        </a:rPr>
                        <a:t>Recall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Nombre de plis de Validation Croisée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solidFill>
                            <a:schemeClr val="dk1"/>
                          </a:solidFill>
                        </a:rPr>
                        <a:t>2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6" name="Google Shape;286;p39"/>
          <p:cNvSpPr txBox="1"/>
          <p:nvPr/>
        </p:nvSpPr>
        <p:spPr>
          <a:xfrm>
            <a:off x="4772700" y="1644550"/>
            <a:ext cx="4048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Configuration du RandomizedSearchCV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39"/>
          <p:cNvCxnSpPr/>
          <p:nvPr/>
        </p:nvCxnSpPr>
        <p:spPr>
          <a:xfrm flipH="1">
            <a:off x="4418250" y="1185299"/>
            <a:ext cx="2700" cy="288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>
            <p:ph type="title"/>
          </p:nvPr>
        </p:nvSpPr>
        <p:spPr>
          <a:xfrm>
            <a:off x="323550" y="0"/>
            <a:ext cx="8496900" cy="648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2.4 Optimisation XGBoost</a:t>
            </a:r>
            <a:endParaRPr/>
          </a:p>
        </p:txBody>
      </p:sp>
      <p:sp>
        <p:nvSpPr>
          <p:cNvPr id="293" name="Google Shape;293;p40"/>
          <p:cNvSpPr txBox="1"/>
          <p:nvPr>
            <p:ph idx="1" type="body"/>
          </p:nvPr>
        </p:nvSpPr>
        <p:spPr>
          <a:xfrm>
            <a:off x="324000" y="923400"/>
            <a:ext cx="8496900" cy="35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200" y="2485075"/>
            <a:ext cx="6755601" cy="1710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40"/>
          <p:cNvGraphicFramePr/>
          <p:nvPr/>
        </p:nvGraphicFramePr>
        <p:xfrm>
          <a:off x="323550" y="108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{E85F4E57-42CA-4603-AE23-07E2851FB653}</a:tableStyleId>
              </a:tblPr>
              <a:tblGrid>
                <a:gridCol w="2238075"/>
                <a:gridCol w="1340550"/>
              </a:tblGrid>
              <a:tr h="24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Nombre d’arbres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solidFill>
                            <a:schemeClr val="dk1"/>
                          </a:solidFill>
                        </a:rPr>
                        <a:t>250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Profondeur maximale des arbres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solidFill>
                            <a:schemeClr val="dk1"/>
                          </a:solidFill>
                        </a:rPr>
                        <a:t>5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4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Learning rate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solidFill>
                            <a:schemeClr val="dk1"/>
                          </a:solidFill>
                        </a:rPr>
                        <a:t>0.171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/>
          <p:nvPr>
            <p:ph idx="1" type="body"/>
          </p:nvPr>
        </p:nvSpPr>
        <p:spPr>
          <a:xfrm>
            <a:off x="185052" y="681540"/>
            <a:ext cx="1263000" cy="10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6200"/>
              <a:buNone/>
            </a:pPr>
            <a:r>
              <a:rPr lang="fr"/>
              <a:t>3</a:t>
            </a:r>
            <a:endParaRPr/>
          </a:p>
        </p:txBody>
      </p:sp>
      <p:sp>
        <p:nvSpPr>
          <p:cNvPr id="302" name="Google Shape;302;p41"/>
          <p:cNvSpPr txBox="1"/>
          <p:nvPr>
            <p:ph idx="2" type="body"/>
          </p:nvPr>
        </p:nvSpPr>
        <p:spPr>
          <a:xfrm>
            <a:off x="1963300" y="742225"/>
            <a:ext cx="56856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2300" spcFirstLastPara="1" rIns="31150" wrap="square" tIns="38475">
            <a:no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4200"/>
              <a:t>Interprétation des résultats</a:t>
            </a:r>
            <a:endParaRPr sz="6900"/>
          </a:p>
        </p:txBody>
      </p:sp>
      <p:sp>
        <p:nvSpPr>
          <p:cNvPr id="303" name="Google Shape;303;p41"/>
          <p:cNvSpPr txBox="1"/>
          <p:nvPr/>
        </p:nvSpPr>
        <p:spPr>
          <a:xfrm>
            <a:off x="370250" y="2082650"/>
            <a:ext cx="82254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b="1" lang="f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Importance des variables dans XGBoost</a:t>
            </a:r>
            <a:r>
              <a:rPr lang="f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</a:pPr>
            <a:r>
              <a:rPr b="1" lang="f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finale sur les résultats et pistes d'amélioration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 txBox="1"/>
          <p:nvPr>
            <p:ph idx="1" type="body"/>
          </p:nvPr>
        </p:nvSpPr>
        <p:spPr>
          <a:xfrm>
            <a:off x="417625" y="1087051"/>
            <a:ext cx="8308800" cy="3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75" lIns="62300" spcFirstLastPara="1" rIns="31150" wrap="square" tIns="384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09" name="Google Shape;309;p42"/>
          <p:cNvSpPr txBox="1"/>
          <p:nvPr>
            <p:ph type="title"/>
          </p:nvPr>
        </p:nvSpPr>
        <p:spPr>
          <a:xfrm>
            <a:off x="417625" y="208774"/>
            <a:ext cx="83088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15575" lIns="0" spcFirstLastPara="1" rIns="15575" wrap="square" tIns="384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"/>
              <a:t>3.1  </a:t>
            </a:r>
            <a:r>
              <a:rPr lang="fr"/>
              <a:t>Analyse des résultats et comparaison</a:t>
            </a:r>
            <a:endParaRPr/>
          </a:p>
        </p:txBody>
      </p:sp>
      <p:pic>
        <p:nvPicPr>
          <p:cNvPr id="310" name="Google Shape;31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775" y="1087050"/>
            <a:ext cx="8096949" cy="35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3"/>
          <p:cNvSpPr txBox="1"/>
          <p:nvPr>
            <p:ph idx="1" type="body"/>
          </p:nvPr>
        </p:nvSpPr>
        <p:spPr>
          <a:xfrm>
            <a:off x="417625" y="1087051"/>
            <a:ext cx="8308800" cy="3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475" lIns="62300" spcFirstLastPara="1" rIns="31150" wrap="square" tIns="38475">
            <a:no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0" lang="fr" sz="1700">
                <a:solidFill>
                  <a:srgbClr val="000000"/>
                </a:solidFill>
                <a:highlight>
                  <a:srgbClr val="FFFFFF"/>
                </a:highlight>
              </a:rPr>
              <a:t>Parmi les modèles testés, </a:t>
            </a:r>
            <a:r>
              <a:rPr lang="fr" sz="1700">
                <a:solidFill>
                  <a:srgbClr val="000000"/>
                </a:solidFill>
                <a:highlight>
                  <a:srgbClr val="FFFFFF"/>
                </a:highlight>
              </a:rPr>
              <a:t>XGBoost</a:t>
            </a:r>
            <a:r>
              <a:rPr b="0" lang="fr" sz="1700">
                <a:solidFill>
                  <a:srgbClr val="000000"/>
                </a:solidFill>
                <a:highlight>
                  <a:srgbClr val="FFFFFF"/>
                </a:highlight>
              </a:rPr>
              <a:t> s'est révélé le plus performant après optimisation, avec une capacité à détecter les accidents graves tout en minimisant les faux négatifs.</a:t>
            </a:r>
            <a:endParaRPr b="0" sz="17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8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fr" sz="1700">
                <a:solidFill>
                  <a:srgbClr val="000000"/>
                </a:solidFill>
                <a:highlight>
                  <a:srgbClr val="FFFFFF"/>
                </a:highlight>
              </a:rPr>
              <a:t>Pistes d'amélioration :</a:t>
            </a:r>
            <a:endParaRPr sz="17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lang="fr" sz="1700">
                <a:solidFill>
                  <a:srgbClr val="000000"/>
                </a:solidFill>
                <a:highlight>
                  <a:srgbClr val="FFFFFF"/>
                </a:highlight>
              </a:rPr>
              <a:t>Explorer des modèles plus complexes comme les réseaux de neurones profonds.</a:t>
            </a:r>
            <a:endParaRPr b="0" sz="17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lang="fr" sz="1700">
                <a:solidFill>
                  <a:srgbClr val="000000"/>
                </a:solidFill>
                <a:highlight>
                  <a:srgbClr val="FFFFFF"/>
                </a:highlight>
              </a:rPr>
              <a:t>Approfondir l'analyse des interactions entre variables pour obtenir des insights supplémentaires.</a:t>
            </a:r>
            <a:endParaRPr b="0" sz="17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16" name="Google Shape;316;p43"/>
          <p:cNvSpPr txBox="1"/>
          <p:nvPr>
            <p:ph type="title"/>
          </p:nvPr>
        </p:nvSpPr>
        <p:spPr>
          <a:xfrm>
            <a:off x="417634" y="166688"/>
            <a:ext cx="83088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15575" lIns="0" spcFirstLastPara="1" rIns="15575" wrap="square" tIns="384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"/>
              <a:t>3.2  </a:t>
            </a:r>
            <a:r>
              <a:rPr lang="fr"/>
              <a:t>Conclusion </a:t>
            </a:r>
            <a:r>
              <a:rPr lang="fr"/>
              <a:t>sur l'utilisation</a:t>
            </a:r>
            <a:r>
              <a:rPr lang="fr"/>
              <a:t> du </a:t>
            </a:r>
            <a:r>
              <a:rPr lang="fr"/>
              <a:t>modèle</a:t>
            </a:r>
            <a:endParaRPr sz="3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ank">
  <a:themeElements>
    <a:clrScheme name="Exton 2016">
      <a:dk1>
        <a:srgbClr val="13264A"/>
      </a:dk1>
      <a:lt1>
        <a:srgbClr val="FFFFFF"/>
      </a:lt1>
      <a:dk2>
        <a:srgbClr val="D3CBC5"/>
      </a:dk2>
      <a:lt2>
        <a:srgbClr val="FFFFFF"/>
      </a:lt2>
      <a:accent1>
        <a:srgbClr val="3B547D"/>
      </a:accent1>
      <a:accent2>
        <a:srgbClr val="7D92AC"/>
      </a:accent2>
      <a:accent3>
        <a:srgbClr val="8A857E"/>
      </a:accent3>
      <a:accent4>
        <a:srgbClr val="A29E9A"/>
      </a:accent4>
      <a:accent5>
        <a:srgbClr val="E9E4E1"/>
      </a:accent5>
      <a:accent6>
        <a:srgbClr val="BA1C3A"/>
      </a:accent6>
      <a:hlink>
        <a:srgbClr val="386888"/>
      </a:hlink>
      <a:folHlink>
        <a:srgbClr val="A29E9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